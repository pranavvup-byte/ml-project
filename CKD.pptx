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94360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65836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MINI HACKATHON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Early Chronic Kidney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Disease Prediction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58368" y="27889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B3C2"/>
                </a:solidFill>
              </a:rPr>
              <a:t>A comparative study of XGBoost and LightGBM on clinical tabular data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3703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D6"/>
                </a:solidFill>
              </a:rPr>
              <a:t>Problem Statement • Dataset Selection • EDA • Literature • ML Models • Prototype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2"/>
                </a:solidFill>
              </a:rPr>
              <a:t>Koneru Lakshmaiah University • August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1200000">
            <a:off x="7772400" y="640080"/>
            <a:ext cx="3108960" cy="3108960"/>
          </a:xfrm>
          <a:prstGeom prst="arc">
            <a:avLst/>
          </a:prstGeom>
          <a:noFill/>
          <a:ln w="25400">
            <a:solidFill>
              <a:srgbClr val="22C7D6">
                <a:alpha val="9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00">
            <a:off x="8412480" y="1280160"/>
            <a:ext cx="2011680" cy="2011680"/>
          </a:xfrm>
          <a:prstGeom prst="arc">
            <a:avLst/>
          </a:prstGeom>
          <a:noFill/>
          <a:ln w="25400">
            <a:solidFill>
              <a:srgbClr val="1F6FEB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1. Problem Statement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Why early CKD screening is worth investigating with machine learning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537960" cy="4297680"/>
          </a:xfrm>
          <a:prstGeom prst="roundRect">
            <a:avLst>
              <a:gd name="adj" fmla="val 2128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6"/>
                </a:solidFill>
              </a:rPr>
              <a:t>Clinical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CKD can progress with limited early symptoms.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Timely identification can support earlier clinical review and risk management.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Clinical records contain multiple interacting renal, metabolic and demographic signals.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 useful screening model must balance discrimination with interpretability and leakage control.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1417320"/>
            <a:ext cx="4069080" cy="4297680"/>
          </a:xfrm>
          <a:prstGeom prst="roundRect">
            <a:avLst>
              <a:gd name="adj" fmla="val 2247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178308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9110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C7D6"/>
                </a:solidFill>
              </a:rPr>
              <a:t>11,933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955280" y="235000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2"/>
                </a:solidFill>
              </a:rPr>
              <a:t>records in primary dataset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29718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3099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C7D6"/>
                </a:solidFill>
              </a:rPr>
              <a:t>29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955280" y="353872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2"/>
                </a:solidFill>
              </a:rPr>
              <a:t>available fields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18120" y="416052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4288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C7D6"/>
                </a:solidFill>
              </a:rPr>
              <a:t>69.9%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55280" y="472744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2"/>
                </a:solidFill>
              </a:rPr>
              <a:t>CKD-positive labels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2.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A focused scope for the mini-hackathon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6362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7D6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00200" y="15270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 3 datasets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53619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Select the most defensible dataset for the project.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350008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963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7D6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24597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Understand the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4688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Perform EDA, missingness, imbalance and relationship analysis.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82696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290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7D6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33924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Compare models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340156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Train and evaluate XGBoost and LightGBM on the same split.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215384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3616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7D6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4325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Interpret results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433425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Identify influential clinical variables and discuss limitations.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5148072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A2D2A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294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7D6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5257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Demonstrate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526694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Package the trained models into a small screening prototype.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3. Dataset Identification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Three supplied datasets were audited before model building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83464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27048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Dataset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383280" y="1417320"/>
            <a:ext cx="91440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38144" y="15270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Rows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91440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52544" y="15270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0" y="1417320"/>
            <a:ext cx="132588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66944" y="1527048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Missing cells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37960" y="1417320"/>
            <a:ext cx="146304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2824" y="15270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Target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01000" y="1417320"/>
            <a:ext cx="1417320" cy="411480"/>
          </a:xfrm>
          <a:prstGeom prst="rect">
            <a:avLst/>
          </a:prstGeom>
          <a:solidFill>
            <a:srgbClr val="1F6FEB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55864" y="1527048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Decision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1837944"/>
            <a:ext cx="2834640" cy="621792"/>
          </a:xfrm>
          <a:prstGeom prst="rect">
            <a:avLst/>
          </a:prstGeom>
          <a:solidFill>
            <a:srgbClr val="172739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2002536"/>
            <a:ext cx="2724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CKD_NHANES_2021_2023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3383280" y="1837944"/>
            <a:ext cx="914400" cy="621792"/>
          </a:xfrm>
          <a:prstGeom prst="rect">
            <a:avLst/>
          </a:prstGeom>
          <a:solidFill>
            <a:srgbClr val="172739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8144" y="200253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11,933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297680" y="1837944"/>
            <a:ext cx="914400" cy="621792"/>
          </a:xfrm>
          <a:prstGeom prst="rect">
            <a:avLst/>
          </a:prstGeom>
          <a:solidFill>
            <a:srgbClr val="172739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2544" y="200253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29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212080" y="1837944"/>
            <a:ext cx="1325880" cy="621792"/>
          </a:xfrm>
          <a:prstGeom prst="rect">
            <a:avLst/>
          </a:prstGeom>
          <a:solidFill>
            <a:srgbClr val="172739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2002536"/>
            <a:ext cx="1216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114,393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537960" y="1837944"/>
            <a:ext cx="1463040" cy="621792"/>
          </a:xfrm>
          <a:prstGeom prst="rect">
            <a:avLst/>
          </a:prstGeom>
          <a:solidFill>
            <a:srgbClr val="172739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2824" y="2002536"/>
            <a:ext cx="1353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ckd_present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001000" y="1837944"/>
            <a:ext cx="1417320" cy="621792"/>
          </a:xfrm>
          <a:prstGeom prst="rect">
            <a:avLst/>
          </a:prstGeom>
          <a:solidFill>
            <a:srgbClr val="172739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55864" y="2002536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2C7D6"/>
                </a:solidFill>
              </a:rPr>
              <a:t>PRIMARY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548640" y="2496312"/>
            <a:ext cx="2834640" cy="621792"/>
          </a:xfrm>
          <a:prstGeom prst="rect">
            <a:avLst/>
          </a:prstGeom>
          <a:solidFill>
            <a:srgbClr val="121A27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2660904"/>
            <a:ext cx="2724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Testing_CKD_dataset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3383280" y="2496312"/>
            <a:ext cx="914400" cy="621792"/>
          </a:xfrm>
          <a:prstGeom prst="rect">
            <a:avLst/>
          </a:prstGeom>
          <a:solidFill>
            <a:srgbClr val="121A27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2660904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4,800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4297680" y="2496312"/>
            <a:ext cx="914400" cy="621792"/>
          </a:xfrm>
          <a:prstGeom prst="rect">
            <a:avLst/>
          </a:prstGeom>
          <a:solidFill>
            <a:srgbClr val="121A27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52544" y="2660904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36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5212080" y="2496312"/>
            <a:ext cx="1325880" cy="621792"/>
          </a:xfrm>
          <a:prstGeom prst="rect">
            <a:avLst/>
          </a:prstGeom>
          <a:solidFill>
            <a:srgbClr val="121A27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6944" y="2660904"/>
            <a:ext cx="1216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0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6537960" y="2496312"/>
            <a:ext cx="1463040" cy="621792"/>
          </a:xfrm>
          <a:prstGeom prst="rect">
            <a:avLst/>
          </a:prstGeom>
          <a:solidFill>
            <a:srgbClr val="121A27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92824" y="2660904"/>
            <a:ext cx="1353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Target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8001000" y="2496312"/>
            <a:ext cx="1417320" cy="621792"/>
          </a:xfrm>
          <a:prstGeom prst="rect">
            <a:avLst/>
          </a:prstGeom>
          <a:solidFill>
            <a:srgbClr val="121A27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55864" y="2660904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B3C2"/>
                </a:solidFill>
              </a:rPr>
              <a:t>SECONDARY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48640" y="3154680"/>
            <a:ext cx="2834640" cy="621792"/>
          </a:xfrm>
          <a:prstGeom prst="rect">
            <a:avLst/>
          </a:prstGeom>
          <a:solidFill>
            <a:srgbClr val="121A27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" y="3319272"/>
            <a:ext cx="2724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kidney_disease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3383280" y="3154680"/>
            <a:ext cx="914400" cy="621792"/>
          </a:xfrm>
          <a:prstGeom prst="rect">
            <a:avLst/>
          </a:prstGeom>
          <a:solidFill>
            <a:srgbClr val="121A27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38144" y="3319272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400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4297680" y="3154680"/>
            <a:ext cx="914400" cy="621792"/>
          </a:xfrm>
          <a:prstGeom prst="rect">
            <a:avLst/>
          </a:prstGeom>
          <a:solidFill>
            <a:srgbClr val="121A27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52544" y="3319272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26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5212080" y="3154680"/>
            <a:ext cx="1325880" cy="621792"/>
          </a:xfrm>
          <a:prstGeom prst="rect">
            <a:avLst/>
          </a:prstGeom>
          <a:solidFill>
            <a:srgbClr val="121A27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66944" y="3319272"/>
            <a:ext cx="1216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1,009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6537960" y="3154680"/>
            <a:ext cx="1463040" cy="621792"/>
          </a:xfrm>
          <a:prstGeom prst="rect">
            <a:avLst/>
          </a:prstGeom>
          <a:solidFill>
            <a:srgbClr val="121A27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92824" y="3319272"/>
            <a:ext cx="1353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classification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8001000" y="3154680"/>
            <a:ext cx="1417320" cy="621792"/>
          </a:xfrm>
          <a:prstGeom prst="rect">
            <a:avLst/>
          </a:prstGeom>
          <a:solidFill>
            <a:srgbClr val="121A27"/>
          </a:solidFill>
          <a:ln w="7620">
            <a:solidFill>
              <a:srgbClr val="2A3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55864" y="3319272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B3C2"/>
                </a:solidFill>
              </a:rPr>
              <a:t>REFERENCE</a:t>
            </a:r>
            <a:endParaRPr lang="en-US" sz="960" dirty="0"/>
          </a:p>
        </p:txBody>
      </p:sp>
      <p:sp>
        <p:nvSpPr>
          <p:cNvPr id="52" name="Text 50"/>
          <p:cNvSpPr/>
          <p:nvPr/>
        </p:nvSpPr>
        <p:spPr>
          <a:xfrm>
            <a:off x="73152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7D6"/>
                </a:solidFill>
              </a:rPr>
              <a:t>Selection rationale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77240" y="406908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Largest sample among the supplied files and strong clinical feature coverage.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The 400-row reference dataset is useful academically but is too small and has substantial missingness.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The 4,800-row file has no missing values but its feature ranges look more synthetic; it is better treated as secondary/sanity-check data.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4. Data Quality &amp; Preprocessing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Cleaning choices are part of the model, not an afterthought</a:t>
            </a:r>
            <a:endParaRPr lang="en-US" sz="1150" dirty="0"/>
          </a:p>
        </p:txBody>
      </p:sp>
      <p:pic>
        <p:nvPicPr>
          <p:cNvPr id="4" name="Image 0" descr="/mnt/data/CKD_Project/figures/02_missing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553212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7D6"/>
                </a:solidFill>
              </a:rPr>
              <a:t>Pipeline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92240" y="1783080"/>
            <a:ext cx="4754880" cy="576072"/>
          </a:xfrm>
          <a:prstGeom prst="roundRect">
            <a:avLst>
              <a:gd name="adj" fmla="val 9524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192938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7D6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059168" y="18745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 cleanup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49640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8B3C2"/>
                </a:solidFill>
              </a:rPr>
              <a:t>Treat implausible age &lt; 1 as missing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6492240" y="2542032"/>
            <a:ext cx="4754880" cy="576072"/>
          </a:xfrm>
          <a:prstGeom prst="roundRect">
            <a:avLst>
              <a:gd name="adj" fmla="val 9524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268833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7D6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59168" y="26334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Missing values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49640" y="26334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8B3C2"/>
                </a:solidFill>
              </a:rPr>
              <a:t>Median numeric / most-frequent categorical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6492240" y="3300984"/>
            <a:ext cx="4754880" cy="576072"/>
          </a:xfrm>
          <a:prstGeom prst="roundRect">
            <a:avLst>
              <a:gd name="adj" fmla="val 9524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34472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7D6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59168" y="33924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Categorical encoding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49640" y="33924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8B3C2"/>
                </a:solidFill>
              </a:rPr>
              <a:t>One-hot encoding with unknown handling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6492240" y="4059936"/>
            <a:ext cx="4754880" cy="576072"/>
          </a:xfrm>
          <a:prstGeom prst="roundRect">
            <a:avLst>
              <a:gd name="adj" fmla="val 9524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42062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7D6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059168" y="41513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Train/test split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49640" y="41513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8B3C2"/>
                </a:solidFill>
              </a:rPr>
              <a:t>80/20 stratified, random_state = 42</a:t>
            </a:r>
            <a:endParaRPr lang="en-US" sz="970" dirty="0"/>
          </a:p>
        </p:txBody>
      </p:sp>
      <p:sp>
        <p:nvSpPr>
          <p:cNvPr id="22" name="Shape 19"/>
          <p:cNvSpPr/>
          <p:nvPr/>
        </p:nvSpPr>
        <p:spPr>
          <a:xfrm>
            <a:off x="6492240" y="4818888"/>
            <a:ext cx="4754880" cy="576072"/>
          </a:xfrm>
          <a:prstGeom prst="roundRect">
            <a:avLst>
              <a:gd name="adj" fmla="val 9524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496519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7D6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059168" y="49103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Tree models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549640" y="4910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8B3C2"/>
                </a:solidFill>
              </a:rPr>
              <a:t>No feature scaling required for XGBoost/LightGBM</a:t>
            </a:r>
            <a:endParaRPr lang="en-US" sz="970" dirty="0"/>
          </a:p>
        </p:txBody>
      </p:sp>
      <p:sp>
        <p:nvSpPr>
          <p:cNvPr id="26" name="Text 2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5. EDA — Target &amp; Demographics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The project begins with distribution, not modeling</a:t>
            </a:r>
            <a:endParaRPr lang="en-US" sz="1150" dirty="0"/>
          </a:p>
        </p:txBody>
      </p:sp>
      <p:pic>
        <p:nvPicPr>
          <p:cNvPr id="4" name="Image 0" descr="/mnt/data/CKD_Project/figures/0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017520"/>
          </a:xfrm>
          <a:prstGeom prst="rect">
            <a:avLst/>
          </a:prstGeom>
        </p:spPr>
      </p:pic>
      <p:pic>
        <p:nvPicPr>
          <p:cNvPr id="5" name="Image 1" descr="/mnt/data/CKD_Project/figures/03_age_by_ck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394960" cy="3017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7D6"/>
                </a:solidFill>
              </a:rPr>
              <a:t>Key observations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85800" y="507492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Target is imbalanced toward CKD-positive cases (8,341 vs 3,592), so stratification is used.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Age distributions overlap substantially; age alone is not a sufficient classifier.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6. EDA — Clinical Signals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Renal and metabolic variables show stronger separation</a:t>
            </a:r>
            <a:endParaRPr lang="en-US" sz="1150" dirty="0"/>
          </a:p>
        </p:txBody>
      </p:sp>
      <p:pic>
        <p:nvPicPr>
          <p:cNvPr id="4" name="Image 0" descr="/mnt/data/CKD_Project/figures/04_creatinine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657600" cy="2331720"/>
          </a:xfrm>
          <a:prstGeom prst="rect">
            <a:avLst/>
          </a:prstGeom>
        </p:spPr>
      </p:pic>
      <p:pic>
        <p:nvPicPr>
          <p:cNvPr id="5" name="Image 1" descr="/mnt/data/CKD_Project/figures/05_bun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234440"/>
            <a:ext cx="3657600" cy="2331720"/>
          </a:xfrm>
          <a:prstGeom prst="rect">
            <a:avLst/>
          </a:prstGeom>
        </p:spPr>
      </p:pic>
      <p:pic>
        <p:nvPicPr>
          <p:cNvPr id="6" name="Image 2" descr="/mnt/data/CKD_Project/figures/06_acr_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234440"/>
            <a:ext cx="3657600" cy="2331720"/>
          </a:xfrm>
          <a:prstGeom prst="rect">
            <a:avLst/>
          </a:prstGeom>
        </p:spPr>
      </p:pic>
      <p:pic>
        <p:nvPicPr>
          <p:cNvPr id="7" name="Image 3" descr="/mnt/data/CKD_Project/figures/07_bp_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767328"/>
            <a:ext cx="3657600" cy="2331720"/>
          </a:xfrm>
          <a:prstGeom prst="rect">
            <a:avLst/>
          </a:prstGeom>
        </p:spPr>
      </p:pic>
      <p:pic>
        <p:nvPicPr>
          <p:cNvPr id="8" name="Image 4" descr="/mnt/data/CKD_Project/figures/08_diabetes_ckd_r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3767328"/>
            <a:ext cx="3657600" cy="233172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10" name="Text 3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7. EDA — Correlation &amp; Leakage Check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The most important methodological decision in the project</a:t>
            </a:r>
            <a:endParaRPr lang="en-US" sz="1150" dirty="0"/>
          </a:p>
        </p:txBody>
      </p:sp>
      <p:pic>
        <p:nvPicPr>
          <p:cNvPr id="4" name="Image 0" descr="/mnt/data/CKD_Project/figures/09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5349240" cy="4572000"/>
          </a:xfrm>
          <a:prstGeom prst="rect">
            <a:avLst/>
          </a:prstGeom>
        </p:spPr>
      </p:pic>
      <p:pic>
        <p:nvPicPr>
          <p:cNvPr id="5" name="Image 1" descr="/mnt/data/CKD_Project/figures/10_egfr_leak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303520" cy="3154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17920" y="4617720"/>
            <a:ext cx="5166360" cy="1143000"/>
          </a:xfrm>
          <a:prstGeom prst="roundRect">
            <a:avLst>
              <a:gd name="adj" fmla="val 5600"/>
            </a:avLst>
          </a:prstGeom>
          <a:solidFill>
            <a:srgbClr val="2E2417"/>
          </a:solidFill>
          <a:ln w="15240">
            <a:solidFill>
              <a:srgbClr val="D99A2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46520" y="48006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9A22"/>
                </a:solidFill>
              </a:rPr>
              <a:t>LEAKAGE CONTROL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446520" y="51023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Remove participant_id, ckd_stage and eGFR from the primary model. eGFR is almost deterministic of the supplied CKD target in this file.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8. Proposed Methodology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Leakage-controlled, reproducible ML workflow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26771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7D6"/>
                </a:solidFill>
              </a:rPr>
              <a:t>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5786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3C2"/>
                </a:solidFill>
              </a:rPr>
              <a:t>Audit + clean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87168" y="2395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8B3C2"/>
                </a:solidFill>
              </a:rPr>
              <a:t>→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2743200" y="20116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226771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7D6"/>
                </a:solidFill>
              </a:rPr>
              <a:t>EDA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52928" y="25786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3C2"/>
                </a:solidFill>
              </a:rPr>
              <a:t>Patterns + gaps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90288" y="2395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8B3C2"/>
                </a:solidFill>
              </a:rPr>
              <a:t>→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4846320" y="20116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226771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7D6"/>
                </a:solidFill>
              </a:rPr>
              <a:t>PREP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6048" y="25786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3C2"/>
                </a:solidFill>
              </a:rPr>
              <a:t>Impute + encode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93408" y="2395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8B3C2"/>
                </a:solidFill>
              </a:rPr>
              <a:t>→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6949440" y="20116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72A3A"/>
          </a:solidFill>
          <a:ln w="12700">
            <a:solidFill>
              <a:srgbClr val="22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7456" y="226771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7D6"/>
                </a:solidFill>
              </a:rPr>
              <a:t>TRAIN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59168" y="25786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3C2"/>
                </a:solidFill>
              </a:rPr>
              <a:t>XGBoost / LightGBM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796528" y="2395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8B3C2"/>
                </a:solidFill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9052560" y="20116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226771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7D6"/>
                </a:solidFill>
              </a:rPr>
              <a:t>EVALUATE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62288" y="25786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3C2"/>
                </a:solidFill>
              </a:rPr>
              <a:t>ROC-AUC + F1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0" y="3977640"/>
            <a:ext cx="8595360" cy="1234440"/>
          </a:xfrm>
          <a:prstGeom prst="roundRect">
            <a:avLst>
              <a:gd name="adj" fmla="val 5926"/>
            </a:avLst>
          </a:prstGeom>
          <a:solidFill>
            <a:srgbClr val="151D2A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4251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Hyperparameter tuning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77640" y="418795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2"/>
                </a:solidFill>
              </a:rPr>
              <a:t>3-fold stratified CV on the training portion • ROC-AUC scoring • fixed random seed • held-out test set for final comparison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9. Algorithms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Why compare XGBoost and LightGBM?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57800" cy="4389120"/>
          </a:xfrm>
          <a:prstGeom prst="roundRect">
            <a:avLst>
              <a:gd name="adj" fmla="val 2083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55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C7D6"/>
                </a:solidFill>
              </a:rPr>
              <a:t>XGBoost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Regularized gradient-boosted decision trees.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Strong tabular performance and mature ecosystem.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Sparsity-aware learning and scalable tree construction.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52303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B3C2"/>
                </a:solidFill>
              </a:rPr>
              <a:t>Chen &amp; Guestrin, KDD 2016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257800" cy="4389120"/>
          </a:xfrm>
          <a:prstGeom prst="roundRect">
            <a:avLst>
              <a:gd name="adj" fmla="val 2083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55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A06B"/>
                </a:solidFill>
              </a:rPr>
              <a:t>LightGBM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83680" y="23317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Gradient-boosted trees with histogram-based learning.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Uses Gradient-based One-Side Sampling (GOSS) and Exclusive Feature Bundling (EFB).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Designed for efficient training on large/high-dimensional tabular data.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5230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B3C2"/>
                </a:solidFill>
              </a:rPr>
              <a:t>Ke et al., NeurIPS 2017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10. Experimental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Measured on the held-out 20% test 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7D6"/>
                </a:solidFill>
              </a:rPr>
              <a:t>Metric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521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7D6"/>
                </a:solidFill>
              </a:rPr>
              <a:t>XGBoost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7D6"/>
                </a:solidFill>
              </a:rPr>
              <a:t>LightGBM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810512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141C28"/>
          </a:solidFill>
          <a:ln w="6350">
            <a:solidFill>
              <a:srgbClr val="2732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751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0" y="1975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99.50%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1975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99.58%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18202D"/>
          </a:solidFill>
          <a:ln w="6350">
            <a:solidFill>
              <a:srgbClr val="2732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334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26334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99.82%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6334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99.76%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127248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141C28"/>
          </a:solidFill>
          <a:ln w="6350">
            <a:solidFill>
              <a:srgbClr val="2732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918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3291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99.46%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3291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99.64%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785616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18202D"/>
          </a:solidFill>
          <a:ln w="6350">
            <a:solidFill>
              <a:srgbClr val="2732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502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F1-score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39502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99.64%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39502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99.70%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443984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141C28"/>
          </a:solidFill>
          <a:ln w="6350">
            <a:solidFill>
              <a:srgbClr val="2732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6085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ROC-AUC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46085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99.9917%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6085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D6"/>
                </a:solidFill>
              </a:rPr>
              <a:t>99.9917%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5102352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18202D"/>
          </a:solidFill>
          <a:ln w="6350">
            <a:solidFill>
              <a:srgbClr val="2732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2669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Single-fit 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52669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0.19 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52669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0.91 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5806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7D6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68880" y="57332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8B3C2"/>
                </a:solidFill>
              </a:rPr>
              <a:t>LightGBM edges XGBoost slightly on accuracy, recall and F1 in this run; ROC-AUC is effectively tied. The measured single-fit time was faster for XGBoost on this environment, so training speed should be reported as an empirical result rather than assumed from algorithm branding.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11. Model Discrimination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ROC curves are virtually overlapping on the supplied data</a:t>
            </a:r>
            <a:endParaRPr lang="en-US" sz="1150" dirty="0"/>
          </a:p>
        </p:txBody>
      </p:sp>
      <p:pic>
        <p:nvPicPr>
          <p:cNvPr id="4" name="Image 0" descr="/mnt/data/CKD_Project/figures/12_roc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6751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54480"/>
            <a:ext cx="3291840" cy="3566160"/>
          </a:xfrm>
          <a:prstGeom prst="roundRect">
            <a:avLst>
              <a:gd name="adj" fmla="val 2778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6"/>
                </a:solidFill>
              </a:rPr>
              <a:t>Takeaway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0" y="233172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Both models separate the two classes extremely well.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At this level, interpretability, validation and data quality become as important as tiny metric differences.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External validation is still required before clinical use.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12. Feature Importance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What the models relied on most</a:t>
            </a:r>
            <a:endParaRPr lang="en-US" sz="1150" dirty="0"/>
          </a:p>
        </p:txBody>
      </p:sp>
      <p:pic>
        <p:nvPicPr>
          <p:cNvPr id="4" name="Image 0" descr="/mnt/data/CKD_Project/figures/13_xgboost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5349240" cy="4480560"/>
          </a:xfrm>
          <a:prstGeom prst="rect">
            <a:avLst/>
          </a:prstGeom>
        </p:spPr>
      </p:pic>
      <p:pic>
        <p:nvPicPr>
          <p:cNvPr id="5" name="Image 1" descr="/mnt/data/CKD_Project/figures/13_lightgbm_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4924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3C2"/>
                </a:solidFill>
              </a:rPr>
              <a:t>Common high-signal variables include serum creatinine, albumin-creatinine ratio, BUN, age and other renal/clinical measures.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13. Research Literature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Papers supporting the algorithm choice and clinical ML context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789920" cy="932688"/>
          </a:xfrm>
          <a:prstGeom prst="roundRect">
            <a:avLst>
              <a:gd name="adj" fmla="val 6863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D6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47218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Chen &amp; Guestrin (2016)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1444752"/>
            <a:ext cx="6309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</a:rPr>
              <a:t>XGBoost: A Scalable Tree Boosting System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114800" y="183794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B3C2"/>
                </a:solidFill>
              </a:rPr>
              <a:t>KDD 2016 • arXiv:1603.02754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85800" y="2487168"/>
            <a:ext cx="10789920" cy="932688"/>
          </a:xfrm>
          <a:prstGeom prst="roundRect">
            <a:avLst>
              <a:gd name="adj" fmla="val 6863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614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D6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63347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 et al. (2017)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606040"/>
            <a:ext cx="6309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</a:rPr>
              <a:t>LightGBM: A Highly Efficient Gradient Boosting Decision Tree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114800" y="299923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B3C2"/>
                </a:solidFill>
              </a:rPr>
              <a:t>NeurIPS 2017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85800" y="3648456"/>
            <a:ext cx="10789920" cy="932688"/>
          </a:xfrm>
          <a:prstGeom prst="roundRect">
            <a:avLst>
              <a:gd name="adj" fmla="val 6863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227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D6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3794760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Capodici et al. (2023)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3767328"/>
            <a:ext cx="6309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</a:rPr>
              <a:t>Predict, diagnose, and treat CKD with machine learning: systematic review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114800" y="416052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B3C2"/>
                </a:solidFill>
              </a:rPr>
              <a:t>J Nephrol • PMID 36786976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85800" y="4809744"/>
            <a:ext cx="10789920" cy="932688"/>
          </a:xfrm>
          <a:prstGeom prst="roundRect">
            <a:avLst>
              <a:gd name="adj" fmla="val 6863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840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D6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4956048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to Predict CKD Progression (2025)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4928616"/>
            <a:ext cx="6309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</a:rPr>
              <a:t>Narrative review of AI for progression to kidney failure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114800" y="532180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B3C2"/>
                </a:solidFill>
              </a:rPr>
              <a:t>Asian Pacific Society of Nephrology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14. Prototype — CKD Screening Demo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A lightweight Streamlit interface for academic demonstration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6858000" cy="4892040"/>
          </a:xfrm>
          <a:prstGeom prst="roundRect">
            <a:avLst>
              <a:gd name="adj" fmla="val 1495"/>
            </a:avLst>
          </a:prstGeom>
          <a:solidFill>
            <a:srgbClr val="F7F8FA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</a:rPr>
              <a:t>CKD Early-Screening Prototype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51560" y="2148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</a:rPr>
              <a:t>Select 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201168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213055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</a:rPr>
              <a:t>LightGBM ▾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267004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273405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</a:rPr>
              <a:t>50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" y="32461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Serum creatinine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31720" y="317296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32369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</a:rPr>
              <a:t>0.9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51560" y="37490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BUN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31720" y="367588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373989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</a:rPr>
              <a:t>14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" y="42519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Serum albumin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417880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424281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</a:rPr>
              <a:t>4.1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" y="47548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5"/>
                </a:solidFill>
              </a:rPr>
              <a:t>ACR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31720" y="468172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87168" y="474573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220"/>
                </a:solidFill>
              </a:rPr>
              <a:t>10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51560" y="5440680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55686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PREDICT CKD RISK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01000" y="1234440"/>
            <a:ext cx="3429000" cy="4892040"/>
          </a:xfrm>
          <a:prstGeom prst="roundRect">
            <a:avLst>
              <a:gd name="adj" fmla="val 2133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7D6"/>
                </a:solidFill>
              </a:rPr>
              <a:t>Prototype flow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21040" y="205740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Load trained pipeline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Enter clinical inputs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Run probability prediction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Compare XGBoost vs LightGBM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Show educational warning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21040" y="5166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9A22"/>
                </a:solidFill>
              </a:rPr>
              <a:t>Important: not a medical diagnosis; intended only for academic demonstration.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15. Limitations &amp; Future 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3C2"/>
                </a:solidFill>
              </a:rPr>
              <a:t>What a responsible next version should improve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5555"/>
                </a:solidFill>
              </a:rPr>
              <a:t>Current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Supplied target construction may closely reflect renal-function thresholds.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Cross-sectional dataset; no longitudinal progression modeling.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High missingness in several clinical variables.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Very high test scores require independent external validation before clinical claims.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Dataset provenance/collection details were not supplied with the CSV.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18202D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A06B"/>
                </a:solidFill>
              </a:rPr>
              <a:t>Next version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External validation on an independent cohort.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Calibrated risk estimates and threshold analysis for screening sensitivity.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SHAP-based explanations and fairness/subgroup analysis.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Prospective / longitudinal CKD progression prediction.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Secure deployment with clinical governance and audit logging.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3C2"/>
                </a:solidFill>
              </a:rPr>
              <a:t>Mini Hackathon 1 • CKD Prediction •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3C2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Koneru Lakshmaiah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CKD Prediction using XGBoost and LightGBM</dc:title>
  <dc:subject>CKD prediction using XGBoost and LightGBM</dc:subject>
  <dc:creator>CKD Mini Hackathon Team</dc:creator>
  <cp:lastModifiedBy>CKD Mini Hackathon Team</cp:lastModifiedBy>
  <cp:revision>1</cp:revision>
  <dcterms:created xsi:type="dcterms:W3CDTF">2026-08-28T05:22:48Z</dcterms:created>
  <dcterms:modified xsi:type="dcterms:W3CDTF">2026-08-28T05:22:48Z</dcterms:modified>
</cp:coreProperties>
</file>